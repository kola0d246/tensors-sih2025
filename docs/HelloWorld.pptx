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301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8"/>
      </p:cViewPr>
      <p:guideLst>
        <p:guide orient="horz" pos="2160"/>
        <p:guide pos="384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5D3DA-CD13-95C2-F7B1-B633502C7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37C8603E-2754-53A7-2FC2-5B3C670589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6427C0AC-9EDC-92E8-DA30-667D04331AC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2B1B9AB0-8D98-4D89-D520-9D0D1BED79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3636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3" y="2130430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3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7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1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4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6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8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7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7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34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2pPr>
            <a:lvl3pPr marL="91447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704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4pPr>
            <a:lvl5pPr marL="1828940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5pPr>
            <a:lvl6pPr marL="2286174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6pPr>
            <a:lvl7pPr marL="2743408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7pPr>
            <a:lvl8pPr marL="3200644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8pPr>
            <a:lvl9pPr marL="3657877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4" y="1600205"/>
            <a:ext cx="5384799" cy="4525963"/>
          </a:xfrm>
        </p:spPr>
        <p:txBody>
          <a:bodyPr/>
          <a:lstStyle>
            <a:lvl1pPr>
              <a:defRPr sz="2801"/>
            </a:lvl1pPr>
            <a:lvl2pPr>
              <a:defRPr sz="2401"/>
            </a:lvl2pPr>
            <a:lvl3pPr>
              <a:defRPr sz="2000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3" y="1600205"/>
            <a:ext cx="5384799" cy="4525963"/>
          </a:xfrm>
        </p:spPr>
        <p:txBody>
          <a:bodyPr/>
          <a:lstStyle>
            <a:lvl1pPr>
              <a:defRPr sz="2801"/>
            </a:lvl1pPr>
            <a:lvl2pPr>
              <a:defRPr sz="2401"/>
            </a:lvl2pPr>
            <a:lvl3pPr>
              <a:defRPr sz="2000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535113"/>
            <a:ext cx="5386917" cy="639762"/>
          </a:xfrm>
        </p:spPr>
        <p:txBody>
          <a:bodyPr anchor="b"/>
          <a:lstStyle>
            <a:lvl1pPr marL="0" indent="0">
              <a:buNone/>
              <a:defRPr sz="2401" b="1"/>
            </a:lvl1pPr>
            <a:lvl2pPr marL="457234" indent="0">
              <a:buNone/>
              <a:defRPr sz="2000" b="1"/>
            </a:lvl2pPr>
            <a:lvl3pPr marL="914470" indent="0">
              <a:buNone/>
              <a:defRPr sz="1801" b="1"/>
            </a:lvl3pPr>
            <a:lvl4pPr marL="1371704" indent="0">
              <a:buNone/>
              <a:defRPr sz="1600" b="1"/>
            </a:lvl4pPr>
            <a:lvl5pPr marL="1828940" indent="0">
              <a:buNone/>
              <a:defRPr sz="1600" b="1"/>
            </a:lvl5pPr>
            <a:lvl6pPr marL="2286174" indent="0">
              <a:buNone/>
              <a:defRPr sz="1600" b="1"/>
            </a:lvl6pPr>
            <a:lvl7pPr marL="2743408" indent="0">
              <a:buNone/>
              <a:defRPr sz="1600" b="1"/>
            </a:lvl7pPr>
            <a:lvl8pPr marL="3200644" indent="0">
              <a:buNone/>
              <a:defRPr sz="1600" b="1"/>
            </a:lvl8pPr>
            <a:lvl9pPr marL="365787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1" y="2174875"/>
            <a:ext cx="5386917" cy="3951288"/>
          </a:xfrm>
        </p:spPr>
        <p:txBody>
          <a:bodyPr/>
          <a:lstStyle>
            <a:lvl1pPr>
              <a:defRPr sz="2401"/>
            </a:lvl1pPr>
            <a:lvl2pPr>
              <a:defRPr sz="2000"/>
            </a:lvl2pPr>
            <a:lvl3pPr>
              <a:defRPr sz="1801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1" b="1"/>
            </a:lvl1pPr>
            <a:lvl2pPr marL="457234" indent="0">
              <a:buNone/>
              <a:defRPr sz="2000" b="1"/>
            </a:lvl2pPr>
            <a:lvl3pPr marL="914470" indent="0">
              <a:buNone/>
              <a:defRPr sz="1801" b="1"/>
            </a:lvl3pPr>
            <a:lvl4pPr marL="1371704" indent="0">
              <a:buNone/>
              <a:defRPr sz="1600" b="1"/>
            </a:lvl4pPr>
            <a:lvl5pPr marL="1828940" indent="0">
              <a:buNone/>
              <a:defRPr sz="1600" b="1"/>
            </a:lvl5pPr>
            <a:lvl6pPr marL="2286174" indent="0">
              <a:buNone/>
              <a:defRPr sz="1600" b="1"/>
            </a:lvl6pPr>
            <a:lvl7pPr marL="2743408" indent="0">
              <a:buNone/>
              <a:defRPr sz="1600" b="1"/>
            </a:lvl7pPr>
            <a:lvl8pPr marL="3200644" indent="0">
              <a:buNone/>
              <a:defRPr sz="1600" b="1"/>
            </a:lvl8pPr>
            <a:lvl9pPr marL="365787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1"/>
            </a:lvl1pPr>
            <a:lvl2pPr>
              <a:defRPr sz="2000"/>
            </a:lvl2pPr>
            <a:lvl3pPr>
              <a:defRPr sz="1801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8" cy="5853113"/>
          </a:xfrm>
        </p:spPr>
        <p:txBody>
          <a:bodyPr/>
          <a:lstStyle>
            <a:lvl1pPr>
              <a:defRPr sz="3199"/>
            </a:lvl1pPr>
            <a:lvl2pPr>
              <a:defRPr sz="2801"/>
            </a:lvl2pPr>
            <a:lvl3pPr>
              <a:defRPr sz="2401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5"/>
            <a:ext cx="4011083" cy="4691063"/>
          </a:xfrm>
        </p:spPr>
        <p:txBody>
          <a:bodyPr/>
          <a:lstStyle>
            <a:lvl1pPr marL="0" indent="0">
              <a:buNone/>
              <a:defRPr sz="1401"/>
            </a:lvl1pPr>
            <a:lvl2pPr marL="457234" indent="0">
              <a:buNone/>
              <a:defRPr sz="1199"/>
            </a:lvl2pPr>
            <a:lvl3pPr marL="914470" indent="0">
              <a:buNone/>
              <a:defRPr sz="1000"/>
            </a:lvl3pPr>
            <a:lvl4pPr marL="1371704" indent="0">
              <a:buNone/>
              <a:defRPr sz="900"/>
            </a:lvl4pPr>
            <a:lvl5pPr marL="1828940" indent="0">
              <a:buNone/>
              <a:defRPr sz="900"/>
            </a:lvl5pPr>
            <a:lvl6pPr marL="2286174" indent="0">
              <a:buNone/>
              <a:defRPr sz="900"/>
            </a:lvl6pPr>
            <a:lvl7pPr marL="2743408" indent="0">
              <a:buNone/>
              <a:defRPr sz="900"/>
            </a:lvl7pPr>
            <a:lvl8pPr marL="3200644" indent="0">
              <a:buNone/>
              <a:defRPr sz="900"/>
            </a:lvl8pPr>
            <a:lvl9pPr marL="365787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199"/>
            </a:lvl1pPr>
            <a:lvl2pPr marL="457234" indent="0">
              <a:buNone/>
              <a:defRPr sz="2801"/>
            </a:lvl2pPr>
            <a:lvl3pPr marL="914470" indent="0">
              <a:buNone/>
              <a:defRPr sz="2401"/>
            </a:lvl3pPr>
            <a:lvl4pPr marL="1371704" indent="0">
              <a:buNone/>
              <a:defRPr sz="2000"/>
            </a:lvl4pPr>
            <a:lvl5pPr marL="1828940" indent="0">
              <a:buNone/>
              <a:defRPr sz="2000"/>
            </a:lvl5pPr>
            <a:lvl6pPr marL="2286174" indent="0">
              <a:buNone/>
              <a:defRPr sz="2000"/>
            </a:lvl6pPr>
            <a:lvl7pPr marL="2743408" indent="0">
              <a:buNone/>
              <a:defRPr sz="2000"/>
            </a:lvl7pPr>
            <a:lvl8pPr marL="3200644" indent="0">
              <a:buNone/>
              <a:defRPr sz="2000"/>
            </a:lvl8pPr>
            <a:lvl9pPr marL="3657877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1"/>
            </a:lvl1pPr>
            <a:lvl2pPr marL="457234" indent="0">
              <a:buNone/>
              <a:defRPr sz="1199"/>
            </a:lvl2pPr>
            <a:lvl3pPr marL="914470" indent="0">
              <a:buNone/>
              <a:defRPr sz="1000"/>
            </a:lvl3pPr>
            <a:lvl4pPr marL="1371704" indent="0">
              <a:buNone/>
              <a:defRPr sz="900"/>
            </a:lvl4pPr>
            <a:lvl5pPr marL="1828940" indent="0">
              <a:buNone/>
              <a:defRPr sz="900"/>
            </a:lvl5pPr>
            <a:lvl6pPr marL="2286174" indent="0">
              <a:buNone/>
              <a:defRPr sz="900"/>
            </a:lvl6pPr>
            <a:lvl7pPr marL="2743408" indent="0">
              <a:buNone/>
              <a:defRPr sz="900"/>
            </a:lvl7pPr>
            <a:lvl8pPr marL="3200644" indent="0">
              <a:buNone/>
              <a:defRPr sz="900"/>
            </a:lvl8pPr>
            <a:lvl9pPr marL="365787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199" y="274643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4" y="274643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1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1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5"/>
            <a:ext cx="2844799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99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3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199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799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199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34" rtl="0" eaLnBrk="0" fontAlgn="base" hangingPunct="0">
        <a:spcBef>
          <a:spcPct val="0"/>
        </a:spcBef>
        <a:spcAft>
          <a:spcPct val="0"/>
        </a:spcAft>
        <a:defRPr sz="4401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34" rtl="0" eaLnBrk="0" fontAlgn="base" hangingPunct="0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34" rtl="0" eaLnBrk="0" fontAlgn="base" hangingPunct="0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34" rtl="0" eaLnBrk="0" fontAlgn="base" hangingPunct="0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34" rtl="0" eaLnBrk="0" fontAlgn="base" hangingPunct="0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34" algn="ctr" defTabSz="457234" rtl="0" fontAlgn="base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70" algn="ctr" defTabSz="457234" rtl="0" fontAlgn="base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704" algn="ctr" defTabSz="457234" rtl="0" fontAlgn="base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940" algn="ctr" defTabSz="457234" rtl="0" fontAlgn="base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26" indent="-342926" algn="l" defTabSz="457234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199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3007" indent="-285773" algn="l" defTabSz="457234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1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86" indent="-228617" algn="l" defTabSz="457234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1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321" indent="-228617" algn="l" defTabSz="457234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557" indent="-228617" algn="l" defTabSz="457234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791" indent="-228617" algn="l" defTabSz="45723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027" indent="-228617" algn="l" defTabSz="45723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260" indent="-228617" algn="l" defTabSz="45723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495" indent="-228617" algn="l" defTabSz="45723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3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34" algn="l" defTabSz="45723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70" algn="l" defTabSz="45723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704" algn="l" defTabSz="45723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940" algn="l" defTabSz="45723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174" algn="l" defTabSz="45723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408" algn="l" defTabSz="45723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644" algn="l" defTabSz="45723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877" algn="l" defTabSz="45723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hte.py.gov.in/sites/default/files/aicte-regulations-degree.pdf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www.confer.cz/clc/2019/download/2922-comparison-of-capabilities-of-recent-open-source-tools-for-solving-capacitated-vehicle-routing-problems.pdf?utm_source=chatgpt.com" TargetMode="External"/><Relationship Id="rId4" Type="http://schemas.openxmlformats.org/officeDocument/2006/relationships/hyperlink" Target="https://www.edtex.in/casetudies/iim-calcutta-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3" y="2"/>
            <a:ext cx="9143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2" y="851523"/>
            <a:ext cx="4638604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3" y="1715882"/>
            <a:ext cx="3203508" cy="3426236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8" y="648616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7" y="-526757"/>
            <a:ext cx="10363201" cy="2076451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95407"/>
            <a:ext cx="6008306" cy="3903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26" indent="-342926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1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25028</a:t>
            </a:r>
          </a:p>
          <a:p>
            <a:pPr marL="285773" indent="-285773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1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Smart Classroom and Timetable Scheduler</a:t>
            </a:r>
          </a:p>
          <a:p>
            <a:pPr marL="285773" indent="-285773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1" b="1" dirty="0">
                <a:latin typeface="Arial" panose="020B0604020202020204" pitchFamily="34" charset="0"/>
                <a:cs typeface="Arial" panose="020B0604020202020204" pitchFamily="34" charset="0"/>
              </a:rPr>
              <a:t>Theme – Smart Education</a:t>
            </a:r>
          </a:p>
          <a:p>
            <a:pPr marL="285773" indent="-285773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1" b="1" dirty="0">
                <a:latin typeface="Arial" panose="020B0604020202020204" pitchFamily="34" charset="0"/>
                <a:cs typeface="Arial" panose="020B0604020202020204" pitchFamily="34" charset="0"/>
              </a:rPr>
              <a:t>PS Category - Software</a:t>
            </a:r>
          </a:p>
          <a:p>
            <a:pPr marL="285773" indent="-285773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1" b="1" dirty="0">
                <a:latin typeface="Arial" panose="020B0604020202020204" pitchFamily="34" charset="0"/>
                <a:cs typeface="Arial" panose="020B0604020202020204" pitchFamily="34" charset="0"/>
              </a:rPr>
              <a:t>Team ID – 67993</a:t>
            </a:r>
          </a:p>
          <a:p>
            <a:pPr marL="285773" indent="-285773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1" b="1" dirty="0">
                <a:latin typeface="Arial" panose="020B0604020202020204" pitchFamily="34" charset="0"/>
                <a:cs typeface="Arial" panose="020B0604020202020204" pitchFamily="34" charset="0"/>
              </a:rPr>
              <a:t>Team Name - TENSORS</a:t>
            </a:r>
            <a:endParaRPr lang="en-IN" sz="2401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9"/>
            <a:ext cx="2209121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" y="6354761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29772" y="136520"/>
            <a:ext cx="10972800" cy="56523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82998" y="1179966"/>
            <a:ext cx="11867489" cy="2462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26" indent="-342926">
              <a:buFont typeface="Wingdings" panose="05000000000000000000" pitchFamily="2" charset="2"/>
              <a:buChar char="v"/>
            </a:pPr>
            <a:r>
              <a:rPr lang="en-US" sz="315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15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26" indent="-342926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26" indent="-342926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26" indent="-342926" algn="just">
              <a:buFont typeface="Arial" panose="020B0604020202020204" pitchFamily="34" charset="0"/>
              <a:buChar char="•"/>
            </a:pPr>
            <a:r>
              <a:rPr lang="en-US" sz="2801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26" indent="-342926" algn="just">
              <a:buFont typeface="Arial" panose="020B0604020202020204" pitchFamily="34" charset="0"/>
              <a:buChar char="•"/>
            </a:pPr>
            <a:r>
              <a:rPr lang="en-US" sz="2801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26" indent="-342926" algn="just">
              <a:buFont typeface="Arial" panose="020B0604020202020204" pitchFamily="34" charset="0"/>
              <a:buChar char="•"/>
            </a:pPr>
            <a:r>
              <a:rPr lang="en-US" sz="2801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6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252245"/>
            <a:ext cx="1519348" cy="73327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TENSORS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8"/>
            <a:ext cx="2209121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69A4AB1-168C-CE7A-A744-FF53CFF87F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973" y="1794191"/>
            <a:ext cx="11713029" cy="45605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6354761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1" cy="1816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26" indent="-342926" algn="just">
              <a:buFont typeface="Arial" panose="020B0604020202020204" pitchFamily="34" charset="0"/>
              <a:buChar char="•"/>
            </a:pPr>
            <a:r>
              <a:rPr lang="en-US" sz="2801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26" indent="-342926" algn="just">
              <a:buFont typeface="Arial" panose="020B0604020202020204" pitchFamily="34" charset="0"/>
              <a:buChar char="•"/>
            </a:pPr>
            <a:r>
              <a:rPr lang="en-US" sz="2801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6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8"/>
            <a:ext cx="2209121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6E8CA0-5100-D081-826E-DC95010641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00" y="1646504"/>
            <a:ext cx="4865913" cy="44928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65970D-44AA-07FC-21A5-3DE5589542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200961"/>
            <a:ext cx="7108370" cy="5090204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A3410B2D-492E-21DE-FE31-62BC2AAF6F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252245"/>
            <a:ext cx="1519348" cy="73327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TENSORS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4E756-4509-B195-CF2E-3C1ACC37B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496EF02-C56E-A61C-BCE4-ED8A42413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6354761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defTabSz="457234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1" dirty="0">
              <a:solidFill>
                <a:srgbClr val="C0504D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80FCF7DB-31DA-C7A0-A553-51EF64A4D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6C3BA-C9E8-BF83-91CE-8B777E489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34">
              <a:defRPr/>
            </a:pPr>
            <a:fld id="{677C3CE7-23F7-4828-823C-E0205DF2CF97}" type="slidenum">
              <a:rPr lang="en-US" b="1">
                <a:solidFill>
                  <a:prstClr val="white"/>
                </a:solidFill>
              </a:rPr>
              <a:pPr defTabSz="457234">
                <a:defRPr/>
              </a:pPr>
              <a:t>4</a:t>
            </a:fld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F96358-2500-D29E-F9EB-16B2B5603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6"/>
          </a:xfrm>
        </p:spPr>
        <p:txBody>
          <a:bodyPr/>
          <a:lstStyle/>
          <a:p>
            <a:pPr defTabSz="457234">
              <a:defRPr/>
            </a:pPr>
            <a:r>
              <a:rPr lang="en-US">
                <a:solidFill>
                  <a:prstClr val="white"/>
                </a:solidFill>
              </a:rPr>
              <a:t>@SIH Idea submission- Template</a:t>
            </a: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9" name="Picture 2" descr="https://www.sih.gov.in/img1/SIH-Logo.png">
            <a:extLst>
              <a:ext uri="{FF2B5EF4-FFF2-40B4-BE49-F238E27FC236}">
                <a16:creationId xmlns:a16="http://schemas.microsoft.com/office/drawing/2014/main" id="{D3D7566C-093B-1C23-8BD1-F9F0413C5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8"/>
            <a:ext cx="2209121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770CD96-09FD-8589-0495-ECD2CEB4B505}"/>
              </a:ext>
            </a:extLst>
          </p:cNvPr>
          <p:cNvSpPr/>
          <p:nvPr/>
        </p:nvSpPr>
        <p:spPr>
          <a:xfrm>
            <a:off x="8101573" y="1143641"/>
            <a:ext cx="4010030" cy="10735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6A8D4B4-D683-8096-5BEF-6D25F6C2376F}"/>
              </a:ext>
            </a:extLst>
          </p:cNvPr>
          <p:cNvCxnSpPr/>
          <p:nvPr/>
        </p:nvCxnSpPr>
        <p:spPr>
          <a:xfrm>
            <a:off x="3739322" y="2346960"/>
            <a:ext cx="0" cy="342392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DAC5235-2437-7DE5-BD8C-64C9CFA58416}"/>
              </a:ext>
            </a:extLst>
          </p:cNvPr>
          <p:cNvCxnSpPr/>
          <p:nvPr/>
        </p:nvCxnSpPr>
        <p:spPr>
          <a:xfrm>
            <a:off x="8362564" y="2346960"/>
            <a:ext cx="0" cy="342392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B2349EC9-FAC4-5B14-0B93-B4BFD93CE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" y="1087121"/>
            <a:ext cx="3762798" cy="526764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F95EFE7-02A7-42F5-2EC0-0B218C3098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9202" y="1179966"/>
            <a:ext cx="3730426" cy="517399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42B39A4-075C-794B-4CE1-E6625DBA37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1299261"/>
            <a:ext cx="4826031" cy="4764082"/>
          </a:xfrm>
          <a:prstGeom prst="rect">
            <a:avLst/>
          </a:prstGeom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4B368F0E-3FB0-E12D-CFE6-6BD7E6590F5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252245"/>
            <a:ext cx="1519348" cy="73327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TENSORS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8746361"/>
      </p:ext>
    </p:extLst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6354761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defTabSz="457234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1" dirty="0">
              <a:solidFill>
                <a:srgbClr val="C0504D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4"/>
            <a:ext cx="9385301" cy="1385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26" indent="-342926" algn="just" defTabSz="457234">
              <a:buFont typeface="Arial" panose="020B0604020202020204" pitchFamily="34" charset="0"/>
              <a:buChar char="•"/>
              <a:defRPr/>
            </a:pPr>
            <a:r>
              <a:rPr lang="en-US" sz="280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impact on the target audience</a:t>
            </a:r>
          </a:p>
          <a:p>
            <a:pPr marL="342926" indent="-342926" algn="just" defTabSz="457234">
              <a:buFont typeface="Arial" panose="020B0604020202020204" pitchFamily="34" charset="0"/>
              <a:buChar char="•"/>
              <a:defRPr/>
            </a:pPr>
            <a:r>
              <a:rPr lang="en-US" sz="280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34">
              <a:defRPr/>
            </a:pPr>
            <a:fld id="{677C3CE7-23F7-4828-823C-E0205DF2CF97}" type="slidenum">
              <a:rPr lang="en-US" b="1">
                <a:solidFill>
                  <a:prstClr val="white"/>
                </a:solidFill>
              </a:rPr>
              <a:pPr defTabSz="457234">
                <a:defRPr/>
              </a:pPr>
              <a:t>5</a:t>
            </a:fld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6"/>
          </a:xfrm>
        </p:spPr>
        <p:txBody>
          <a:bodyPr/>
          <a:lstStyle/>
          <a:p>
            <a:pPr defTabSz="457234">
              <a:defRPr/>
            </a:pPr>
            <a:r>
              <a:rPr lang="en-US">
                <a:solidFill>
                  <a:prstClr val="white"/>
                </a:solidFill>
              </a:rPr>
              <a:t>@SIH Idea submission- Template</a:t>
            </a: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8"/>
            <a:ext cx="2209121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C3D2F0-8964-441C-B8EF-E6746AE7A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" y="1179966"/>
            <a:ext cx="11948888" cy="5142433"/>
          </a:xfrm>
          <a:prstGeom prst="rect">
            <a:avLst/>
          </a:prstGeom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3E1EDD35-D742-1802-1731-BD5E04D0659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252245"/>
            <a:ext cx="1519348" cy="73327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TENSORS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6354761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defTabSz="457234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1" dirty="0">
              <a:solidFill>
                <a:srgbClr val="C0504D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67289" y="1336632"/>
            <a:ext cx="9791111" cy="3016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26" indent="-342926" algn="just" defTabSz="457234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Bahnschrift Light" panose="020B0502040204020203" pitchFamily="34" charset="0"/>
              </a:rPr>
              <a:t>Before building our dynamic classroom scheduler, we studied manual timetabling in colleges, identifying challenges like overlapping lectures and uneven workload.</a:t>
            </a:r>
          </a:p>
          <a:p>
            <a:pPr marL="342926" indent="-342926" algn="just" defTabSz="457234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Bahnschrift Light" panose="020B0502040204020203" pitchFamily="34" charset="0"/>
              </a:rPr>
              <a:t>We grounded our design in AICTE policies for faculty workload.	</a:t>
            </a:r>
            <a:r>
              <a:rPr lang="en-US" sz="2000" dirty="0">
                <a:latin typeface="Bahnschrift Light" panose="020B0502040204020203" pitchFamily="34" charset="0"/>
                <a:hlinkClick r:id="rId3"/>
              </a:rPr>
              <a:t>Aicte-regulations.pdf</a:t>
            </a:r>
            <a:endParaRPr lang="en-US" sz="2000" dirty="0">
              <a:latin typeface="Bahnschrift Light" panose="020B0502040204020203" pitchFamily="34" charset="0"/>
            </a:endParaRPr>
          </a:p>
          <a:p>
            <a:pPr marL="342926" indent="-342926" algn="just" defTabSz="457234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Bahnschrift Light" panose="020B0502040204020203" pitchFamily="34" charset="0"/>
              </a:rPr>
              <a:t>Recent CSP and Integer Programming studies show up to </a:t>
            </a:r>
            <a:r>
              <a:rPr lang="en-IN" sz="2000" dirty="0"/>
              <a:t>50-80</a:t>
            </a:r>
            <a:r>
              <a:rPr lang="en-US" sz="2000" dirty="0">
                <a:latin typeface="Bahnschrift Light" panose="020B0502040204020203" pitchFamily="34" charset="0"/>
              </a:rPr>
              <a:t>% faster scheduling and fewer conflicts in large universities.	 </a:t>
            </a:r>
            <a:r>
              <a:rPr lang="en-US" sz="2000" dirty="0" err="1">
                <a:latin typeface="Bahnschrift Light" panose="020B0502040204020203" pitchFamily="34" charset="0"/>
                <a:hlinkClick r:id="rId4"/>
              </a:rPr>
              <a:t>Casestudy-iim-culcutta</a:t>
            </a:r>
            <a:endParaRPr lang="en-US" sz="2000" dirty="0">
              <a:latin typeface="Bahnschrift Light" panose="020B0502040204020203" pitchFamily="34" charset="0"/>
            </a:endParaRPr>
          </a:p>
          <a:p>
            <a:pPr marL="342926" indent="-342926" algn="just" defTabSz="457234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Bahnschrift Light" panose="020B0502040204020203" pitchFamily="34" charset="0"/>
              </a:rPr>
              <a:t>Solvers like Google OR-Tools and </a:t>
            </a:r>
            <a:r>
              <a:rPr lang="en-US" sz="2000" dirty="0" err="1">
                <a:latin typeface="Bahnschrift Light" panose="020B0502040204020203" pitchFamily="34" charset="0"/>
              </a:rPr>
              <a:t>OptaPlanner</a:t>
            </a:r>
            <a:r>
              <a:rPr lang="en-US" sz="2000" dirty="0">
                <a:latin typeface="Bahnschrift Light" panose="020B0502040204020203" pitchFamily="34" charset="0"/>
              </a:rPr>
              <a:t> are proven and scalable for real-world timetabling.	</a:t>
            </a:r>
            <a:r>
              <a:rPr lang="en-US" sz="2000" dirty="0">
                <a:latin typeface="Bahnschrift Light" panose="020B0502040204020203" pitchFamily="34" charset="0"/>
                <a:hlinkClick r:id="rId5"/>
              </a:rPr>
              <a:t>comparison-open-source-constraint-solving-tools.pdf</a:t>
            </a:r>
            <a:endParaRPr lang="en-US" sz="2000" dirty="0">
              <a:latin typeface="Bahnschrift Light" panose="020B0502040204020203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34">
              <a:defRPr/>
            </a:pPr>
            <a:fld id="{677C3CE7-23F7-4828-823C-E0205DF2CF97}" type="slidenum">
              <a:rPr lang="en-US" b="1">
                <a:solidFill>
                  <a:prstClr val="white"/>
                </a:solidFill>
              </a:rPr>
              <a:pPr defTabSz="457234">
                <a:defRPr/>
              </a:pPr>
              <a:t>6</a:t>
            </a:fld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6"/>
          </a:xfrm>
        </p:spPr>
        <p:txBody>
          <a:bodyPr/>
          <a:lstStyle/>
          <a:p>
            <a:pPr defTabSz="457234">
              <a:defRPr/>
            </a:pPr>
            <a:r>
              <a:rPr lang="en-US">
                <a:solidFill>
                  <a:prstClr val="white"/>
                </a:solidFill>
              </a:rPr>
              <a:t>@SIH Idea submission- Template</a:t>
            </a: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8"/>
            <a:ext cx="2209121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C1651F9-6AE5-B31A-87F4-29D19EEBE468}"/>
              </a:ext>
            </a:extLst>
          </p:cNvPr>
          <p:cNvSpPr/>
          <p:nvPr/>
        </p:nvSpPr>
        <p:spPr>
          <a:xfrm>
            <a:off x="7684063" y="5217126"/>
            <a:ext cx="3898338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0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60000" endA="900" endPos="58000" dir="5400000" sy="-100000" algn="bl" rotWithShape="0"/>
                </a:effectLst>
              </a:rPr>
              <a:t>THANK YOU</a:t>
            </a: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62C3C512-8618-16F0-1CCC-93522876C27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252245"/>
            <a:ext cx="1519348" cy="73327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TENSORS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8964</TotalTime>
  <Words>249</Words>
  <Application>Microsoft Office PowerPoint</Application>
  <PresentationFormat>Widescreen</PresentationFormat>
  <Paragraphs>49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Bahnschrift Light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Koustubh Sinha</cp:lastModifiedBy>
  <cp:revision>161</cp:revision>
  <dcterms:created xsi:type="dcterms:W3CDTF">2013-12-12T18:46:50Z</dcterms:created>
  <dcterms:modified xsi:type="dcterms:W3CDTF">2025-09-29T09:05:15Z</dcterms:modified>
  <cp:category/>
</cp:coreProperties>
</file>